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Problem Statement ID – PS26034</a:t>
            </a:r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AI-Assisted Legal Metrology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Compliance Inspection System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 – 57893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Zillion MindsSashakt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t>METROLOGYAI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v"/>
              <a:defRPr sz="1600" b="1">
                <a:solidFill>
                  <a:srgbClr val="002B5C"/>
                </a:solidFill>
              </a:defRPr>
            </a:pPr>
            <a:r>
              <a:t>Understanding The Problem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Manual Inspection — Inspectors manually examine labels, making checks time-consuming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Multi-Surface Declarations — Required info appears on different sides of the package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Real-World Image Issues — Blur, glare, distortion reduce readability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Uncertain AI Results — System confuses unreadable with genuinely missing</a:t>
            </a:r>
          </a:p>
          <a:p>
            <a:pPr>
              <a:spcAft>
                <a:spcPts val="800"/>
              </a:spcAft>
              <a:defRPr sz="1000" b="0">
                <a:solidFill>
                  <a:srgbClr val="333333"/>
                </a:solidFill>
              </a:defRPr>
            </a:pPr>
            <a:r>
              <a:t>• Fragmented Verification — Physical, online, historical data checked separately</a:t>
            </a:r>
          </a:p>
          <a:p>
            <a:pPr>
              <a:spcAft>
                <a:spcPts val="600"/>
              </a:spcAft>
              <a:defRPr sz="1600" b="1">
                <a:solidFill>
                  <a:srgbClr val="002B5C"/>
                </a:solidFill>
              </a:defRPr>
            </a:pPr>
            <a:r>
              <a:t>Our Solution — MetrologyAI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Takes product images → AI reads label → Checks 11 Legal Metrology rules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Gives compliance score (0-100) with evidence chain for every finding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Inspector reviews, corrects, and makes final decision</a:t>
            </a:r>
          </a:p>
          <a:p>
            <a:pPr>
              <a:spcAft>
                <a:spcPts val="800"/>
              </a:spcAft>
              <a:defRPr sz="1000" b="0">
                <a:solidFill>
                  <a:srgbClr val="333333"/>
                </a:solidFill>
              </a:defRPr>
            </a:pPr>
            <a:r>
              <a:t>• Digital PDF report with complete audit trail</a:t>
            </a:r>
          </a:p>
          <a:p>
            <a:pPr>
              <a:spcAft>
                <a:spcPts val="600"/>
              </a:spcAft>
              <a:defRPr sz="1600" b="1">
                <a:solidFill>
                  <a:srgbClr val="002B5C"/>
                </a:solidFill>
              </a:defRPr>
            </a:pPr>
            <a:r>
              <a:t>Our Unique Solutions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Multi-View Intelligence — Analyzes front, back, side, top, bottom views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Missing ≠ Unreadable — Separates absent from low-confidence detection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Adaptive Re-Capture — Identifies poor quality, recommends improvement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Evidence Chain — Links finding to image, OCR, field, and rule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Risk Prioritization — AI scores every inspection for risk level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• Human-in-the-Loop — Corrections trigger automatic revalidation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Zillion
MindsSashakt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8961120" y="1371600"/>
            <a:ext cx="1371600" cy="164592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00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Real-time</a:t>
            </a:r>
            <a:br/>
            <a:r>
              <a:t>compliance</a:t>
            </a:r>
            <a:br/>
            <a:r>
              <a:t>scoring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10515600" y="1371600"/>
            <a:ext cx="1371600" cy="164592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Evidence-backed</a:t>
            </a:r>
            <a:br/>
            <a:r>
              <a:t>findings for</a:t>
            </a:r>
            <a:br/>
            <a:r>
              <a:t>every violation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8961120" y="3383280"/>
            <a:ext cx="1371600" cy="164592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Multi-view</a:t>
            </a:r>
            <a:br/>
            <a:r>
              <a:t>package</a:t>
            </a:r>
            <a:br/>
            <a:r>
              <a:t>analysis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10515600" y="3383280"/>
            <a:ext cx="1371600" cy="164592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Inspector</a:t>
            </a:r>
            <a:br/>
            <a:r>
              <a:t>corrections with</a:t>
            </a:r>
            <a:br/>
            <a:r>
              <a:t>auto-revalidation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8961120" y="1005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</a:defRPr>
            </a:pPr>
            <a:r>
              <a:t>USPs {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400"/>
              </a:spcAft>
              <a:buFont typeface="Arial" panose="020B0604020202020204" pitchFamily="34" charset="0"/>
              <a:buChar char="•"/>
              <a:defRPr sz="1400" b="1">
                <a:solidFill>
                  <a:srgbClr val="002B5C"/>
                </a:solidFill>
              </a:defRPr>
            </a:pPr>
            <a:r>
              <a:t>Methodology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</a:p>
          <a:p>
            <a:pPr>
              <a:spcAft>
                <a:spcPts val="600"/>
              </a:spcAft>
              <a:defRPr sz="900" b="0">
                <a:solidFill>
                  <a:srgbClr val="333333"/>
                </a:solidFill>
              </a:defRPr>
            </a:pPr>
            <a:r>
              <a:t>01 CAPTURE → 02 QUALITY CHECK → 03 AI EXTRACTION → 04 STRUCTURE → 05 VALIDATE → 06 EVIDENCE → 07 RISK → 08 REVIEW → 09 REPORT</a:t>
            </a:r>
          </a:p>
          <a:p>
            <a:pPr>
              <a:spcAft>
                <a:spcPts val="400"/>
              </a:spcAft>
              <a:defRPr sz="1400" b="1">
                <a:solidFill>
                  <a:srgbClr val="002B5C"/>
                </a:solidFill>
              </a:defRPr>
            </a:pPr>
            <a:r>
              <a:t>Technical Approach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Image Acquisition — Capture multi-view product images (front, back, left, right, top, bottom)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Image Quality Analysis — Client-side canvas: blur, brightness, glare, resolution, perspective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AI Vision + OCR — Gemini Vision API extracts 11 fields with confidence scores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Rule Validation — 11 Legal Metrology rules checked against extracted fields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Evidence Engine — Every finding linked to image region, OCR text, field, and rule</a:t>
            </a:r>
          </a:p>
          <a:p>
            <a:pPr>
              <a:spcAft>
                <a:spcPts val="600"/>
              </a:spcAft>
              <a:defRPr sz="900" b="0">
                <a:solidFill>
                  <a:srgbClr val="333333"/>
                </a:solidFill>
              </a:defRPr>
            </a:pPr>
            <a:r>
              <a:t>• Risk Scoring — Compliance score, missing declarations, low confidence, anomalies</a:t>
            </a:r>
          </a:p>
          <a:p>
            <a:pPr>
              <a:spcAft>
                <a:spcPts val="400"/>
              </a:spcAft>
              <a:defRPr sz="1400" b="1">
                <a:solidFill>
                  <a:srgbClr val="002B5C"/>
                </a:solidFill>
              </a:defRPr>
            </a:pPr>
            <a:r>
              <a:t>Tech Stack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Frontend: React + TypeScript + Vite + Tailwind CSS + shadcn/ui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Backend: Convex (Serverless) | Database: Convex DB (Real-time)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AI/Vision: Google Gemini Vision API (Multi-model fallback) | Auth: Convex Auth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Analytics: Recharts | Deployment: Freebuff Platform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Zillion
MindsSashakt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9601200" y="1188720"/>
            <a:ext cx="2011680" cy="54864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IMAGE</a:t>
            </a:r>
          </a:p>
        </p:txBody>
      </p:sp>
      <p:sp>
        <p:nvSpPr>
          <p:cNvPr id="17412" name="Down Arrow 17411"/>
          <p:cNvSpPr/>
          <p:nvPr/>
        </p:nvSpPr>
        <p:spPr>
          <a:xfrm>
            <a:off x="10424160" y="1719072"/>
            <a:ext cx="274320" cy="137160"/>
          </a:xfrm>
          <a:prstGeom prst="downArrow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9601200" y="1874519"/>
            <a:ext cx="2011680" cy="5486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QUALITY</a:t>
            </a:r>
            <a:br/>
            <a:r>
              <a:t>CHECK</a:t>
            </a:r>
          </a:p>
        </p:txBody>
      </p:sp>
      <p:sp>
        <p:nvSpPr>
          <p:cNvPr id="17414" name="Down Arrow 17413"/>
          <p:cNvSpPr/>
          <p:nvPr/>
        </p:nvSpPr>
        <p:spPr>
          <a:xfrm>
            <a:off x="10424160" y="2404872"/>
            <a:ext cx="274320" cy="137160"/>
          </a:xfrm>
          <a:prstGeom prst="downArrow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9601200" y="2560320"/>
            <a:ext cx="2011680" cy="5486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AI VISION</a:t>
            </a:r>
            <a:br/>
            <a:r>
              <a:t>+ OCR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10424160" y="3090672"/>
            <a:ext cx="274320" cy="137160"/>
          </a:xfrm>
          <a:prstGeom prst="downArrow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9601200" y="3246120"/>
            <a:ext cx="2011680" cy="54864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RULE</a:t>
            </a:r>
            <a:br/>
            <a:r>
              <a:t>VALIDATION</a:t>
            </a:r>
          </a:p>
        </p:txBody>
      </p:sp>
      <p:sp>
        <p:nvSpPr>
          <p:cNvPr id="17418" name="Down Arrow 17417"/>
          <p:cNvSpPr/>
          <p:nvPr/>
        </p:nvSpPr>
        <p:spPr>
          <a:xfrm>
            <a:off x="10424160" y="3776472"/>
            <a:ext cx="274320" cy="137160"/>
          </a:xfrm>
          <a:prstGeom prst="downArrow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9601200" y="3931920"/>
            <a:ext cx="2011680" cy="54864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SCORE +</a:t>
            </a:r>
            <a:br/>
            <a:r>
              <a:t>EVIDENCE</a:t>
            </a:r>
          </a:p>
        </p:txBody>
      </p:sp>
      <p:sp>
        <p:nvSpPr>
          <p:cNvPr id="17420" name="Down Arrow 17419"/>
          <p:cNvSpPr/>
          <p:nvPr/>
        </p:nvSpPr>
        <p:spPr>
          <a:xfrm>
            <a:off x="10424160" y="4462272"/>
            <a:ext cx="274320" cy="137160"/>
          </a:xfrm>
          <a:prstGeom prst="downArrow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9601200" y="4617720"/>
            <a:ext cx="2011680" cy="5486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INSPECTOR</a:t>
            </a:r>
            <a:br/>
            <a:r>
              <a:t>REVIEW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10424160" y="5148072"/>
            <a:ext cx="274320" cy="137160"/>
          </a:xfrm>
          <a:prstGeom prst="downArrow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9601200" y="5303520"/>
            <a:ext cx="2011680" cy="5486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3333"/>
                </a:solidFill>
              </a:defRPr>
            </a:pPr>
            <a:r>
              <a:t>PDF</a:t>
            </a:r>
            <a:br/>
            <a:r>
              <a:t>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1">
                <a:solidFill>
                  <a:srgbClr val="002B5C"/>
                </a:solidFill>
              </a:defRPr>
            </a:pPr>
            <a:r>
              <a:t>Feasibility Analysis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/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/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/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01 Technology — Gemini Vision API is production-ready; React + Convex are proven frameworks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02 Data — Product labels easy to collect; 11 rules publicly documented in Legal Metrology Rules 2011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03 Architecture — AI extraction and rule validation are modular, independently testable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04 Deployment — Web-based; works on desktop, tablet, mobile; no app install required</a:t>
            </a:r>
          </a:p>
          <a:p>
            <a:pPr>
              <a:spcAft>
                <a:spcPts val="600"/>
              </a:spcAft>
              <a:defRPr sz="900" b="0">
                <a:solidFill>
                  <a:srgbClr val="333333"/>
                </a:solidFill>
              </a:defRPr>
            </a:pPr>
            <a:r>
              <a:t>05 Scalability — New categories added by updating RULE_REQUIREMENTS config</a:t>
            </a:r>
          </a:p>
          <a:p>
            <a:pPr>
              <a:spcAft>
                <a:spcPts val="400"/>
              </a:spcAft>
              <a:defRPr sz="1400" b="1">
                <a:solidFill>
                  <a:srgbClr val="002B5C"/>
                </a:solidFill>
              </a:defRPr>
            </a:pPr>
            <a:r>
              <a:t>What Ifs...? — Challenge → Mitigation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AI misreads text → Confidence scoring + evidence chain + inspector correction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Image is blurry → Quality detection + adaptive recapture recommendations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Declaration on another side → Multi-view analysis (up to 6 views)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Regulations change → Version-controlled rule engine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AI produces false finding → Human-in-the-loop verification</a:t>
            </a:r>
          </a:p>
          <a:p>
            <a:pPr>
              <a:spcAft>
                <a:spcPts val="600"/>
              </a:spcAft>
              <a:defRPr sz="900" b="0">
                <a:solidFill>
                  <a:srgbClr val="333333"/>
                </a:solidFill>
              </a:defRPr>
            </a:pPr>
            <a:r>
              <a:t>• API fails → Multi-model fallback (4 Gemini models in sequence)</a:t>
            </a:r>
          </a:p>
          <a:p>
            <a:pPr>
              <a:spcAft>
                <a:spcPts val="400"/>
              </a:spcAft>
              <a:defRPr sz="1200" b="1">
                <a:solidFill>
                  <a:srgbClr val="002B5C"/>
                </a:solidFill>
              </a:defRPr>
            </a:pPr>
            <a:r>
              <a:t>Before MetrologyAI → After MetrologyAI</a:t>
            </a:r>
          </a:p>
          <a:p>
            <a:pPr>
              <a:spcAft>
                <a:spcPts val="200"/>
              </a:spcAft>
              <a:defRPr sz="900" b="0">
                <a:solidFill>
                  <a:srgbClr val="CC0000"/>
                </a:solidFill>
              </a:defRPr>
            </a:pPr>
            <a:r>
              <a:t>BEFORE: Manual reading | Manual comparison | Fragmented evidence | Paper reports</a:t>
            </a:r>
          </a:p>
          <a:p>
            <a:pPr>
              <a:spcAft>
                <a:spcPts val="200"/>
              </a:spcAft>
              <a:defRPr sz="900" b="0">
                <a:solidFill>
                  <a:srgbClr val="00A65A"/>
                </a:solidFill>
              </a:defRPr>
            </a:pPr>
            <a:r>
              <a:t>AFTER: AI-assisted extraction | Rule-based validation | Evidence-linked | Digital reports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Zillion
MindsSashakt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1">
                <a:solidFill>
                  <a:srgbClr val="002B5C"/>
                </a:solidFill>
              </a:defRPr>
            </a:pPr>
            <a:r>
              <a:t>Inspector Benefits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/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Faster inspection — AI reads 11 fields in seconds, not minutes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Better accuracy — Confidence scores show what is reliable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Complete evidence — Every finding linked to source image and rule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Risk prioritization — Focus on high-risk products first</a:t>
            </a:r>
          </a:p>
          <a:p>
            <a:pPr>
              <a:spcAft>
                <a:spcPts val="600"/>
              </a:spcAft>
              <a:defRPr sz="900" b="0">
                <a:solidFill>
                  <a:srgbClr val="333333"/>
                </a:solidFill>
              </a:defRPr>
            </a:pPr>
            <a:r>
              <a:t>• Smart revalidation — Corrections automatically update compliance status</a:t>
            </a:r>
          </a:p>
          <a:p>
            <a:pPr>
              <a:spcAft>
                <a:spcPts val="400"/>
              </a:spcAft>
              <a:defRPr sz="1400" b="1">
                <a:solidFill>
                  <a:srgbClr val="002B5C"/>
                </a:solidFill>
              </a:defRPr>
            </a:pPr>
            <a:r>
              <a:t>Operational Benefits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Consistent checking — Same 11 rules applied every time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Reduced false positives — Missing vs unreadable distinction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Scalable — Supports more inspections without proportional staff increase</a:t>
            </a:r>
          </a:p>
          <a:p>
            <a:pPr>
              <a:spcAft>
                <a:spcPts val="600"/>
              </a:spcAft>
              <a:defRPr sz="900" b="0">
                <a:solidFill>
                  <a:srgbClr val="333333"/>
                </a:solidFill>
              </a:defRPr>
            </a:pPr>
            <a:r>
              <a:t>• Data-driven — Analytics show patterns across inspections</a:t>
            </a:r>
          </a:p>
          <a:p>
            <a:pPr>
              <a:spcAft>
                <a:spcPts val="400"/>
              </a:spcAft>
              <a:defRPr sz="1400" b="1">
                <a:solidFill>
                  <a:srgbClr val="002B5C"/>
                </a:solidFill>
              </a:defRPr>
            </a:pPr>
            <a:r>
              <a:t>Social &amp; Economic Benefits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Better consumer protection through consistent enforcement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Faster detection of non-compliant products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Digital evidence supports legal proceedings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Supports government Digital India initiative</a:t>
            </a:r>
          </a:p>
          <a:p>
            <a:pPr>
              <a:spcAft>
                <a:spcPts val="200"/>
              </a:spcAft>
              <a:defRPr sz="900" b="0">
                <a:solidFill>
                  <a:srgbClr val="333333"/>
                </a:solidFill>
              </a:defRPr>
            </a:pPr>
            <a:r>
              <a:t>• Less manual effort, fewer re-inspections, digital documentation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Zillion
MindsSashakt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9144000" y="1188720"/>
            <a:ext cx="2286000" cy="365760"/>
          </a:xfrm>
          <a:prstGeom prst="round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35%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9144000" y="157276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333333"/>
                </a:solidFill>
              </a:defRPr>
            </a:pPr>
            <a:r>
              <a:t>Inspection</a:t>
            </a:r>
            <a:br/>
            <a:r>
              <a:t>Efficiency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9144000" y="2240280"/>
            <a:ext cx="1632857" cy="36576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25%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144000" y="26243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333333"/>
                </a:solidFill>
              </a:defRPr>
            </a:pPr>
            <a:r>
              <a:t>Evidence &amp;</a:t>
            </a:r>
            <a:br/>
            <a:r>
              <a:t>Traceability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144000" y="3291839"/>
            <a:ext cx="1306285" cy="36576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20%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9144000" y="367588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333333"/>
                </a:solidFill>
              </a:defRPr>
            </a:pPr>
            <a:r>
              <a:t>Inspector</a:t>
            </a:r>
            <a:br/>
            <a:r>
              <a:t>Assistance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9144000" y="4343400"/>
            <a:ext cx="653142" cy="365760"/>
          </a:xfrm>
          <a:prstGeom prst="round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10%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9144000" y="47274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333333"/>
                </a:solidFill>
              </a:defRPr>
            </a:pPr>
            <a:r>
              <a:t>Consistency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9144000" y="5394959"/>
            <a:ext cx="653142" cy="36576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10%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144000" y="577900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333333"/>
                </a:solidFill>
              </a:defRPr>
            </a:pPr>
            <a:r>
              <a:t>Digital</a:t>
            </a:r>
            <a:br/>
            <a:r>
              <a:t>Documentation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44000" y="822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</a:defRPr>
            </a:pPr>
            <a:r>
              <a:t>Impact Priorities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1">
                <a:solidFill>
                  <a:srgbClr val="002B5C"/>
                </a:solidFill>
              </a:defRPr>
            </a:pPr>
            <a:r>
              <a:t>Legal &amp; Regulatory References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01 Legal Metrology Act, 2009 — Government of India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02 Legal Metrology (Packaged Commodities) Rules, 2011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03 Department of Consumer Affairs — Legal Metrology Division</a:t>
            </a:r>
          </a:p>
          <a:p>
            <a:pPr>
              <a:spcAft>
                <a:spcPts val="600"/>
              </a:spcAft>
              <a:defRPr sz="1000" b="0">
                <a:solidFill>
                  <a:srgbClr val="333333"/>
                </a:solidFill>
              </a:defRPr>
            </a:pPr>
            <a:r>
              <a:t>04 Official Gazette Notifications and Amendments</a:t>
            </a:r>
          </a:p>
          <a:p>
            <a:pPr>
              <a:spcAft>
                <a:spcPts val="400"/>
              </a:spcAft>
              <a:defRPr sz="1400" b="1">
                <a:solidFill>
                  <a:srgbClr val="002B5C"/>
                </a:solidFill>
              </a:defRPr>
            </a:pPr>
            <a:r>
              <a:t>Research Areas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01 Computer Vision &amp; OCR — Scene-text recognition for label analysis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02 Multimodal AI — Vision-language models for regulatory compliance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03 Explainable AI — Confidence scoring and evidence-based decisions</a:t>
            </a:r>
          </a:p>
          <a:p>
            <a:pPr>
              <a:spcAft>
                <a:spcPts val="600"/>
              </a:spcAft>
              <a:defRPr sz="1000" b="0">
                <a:solidFill>
                  <a:srgbClr val="333333"/>
                </a:solidFill>
              </a:defRPr>
            </a:pPr>
            <a:r>
              <a:t>04 Human-AI Interaction — Inspector-in-the-loop verification patterns</a:t>
            </a:r>
          </a:p>
          <a:p>
            <a:pPr>
              <a:spcAft>
                <a:spcPts val="400"/>
              </a:spcAft>
              <a:defRPr sz="1400" b="1">
                <a:solidFill>
                  <a:srgbClr val="002B5C"/>
                </a:solidFill>
              </a:defRPr>
            </a:pPr>
            <a:r>
              <a:t>Technology References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React (react.dev) | TypeScript (typescriptlang.org) | Vite (vitejs.dev)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Tailwind CSS (tailwindcss.com) | Convex (convex.dev) | shadcn/ui (ui.shadcn.com)</a:t>
            </a:r>
          </a:p>
          <a:p>
            <a:pPr>
              <a:spcAft>
                <a:spcPts val="200"/>
              </a:spcAft>
              <a:defRPr sz="1000" b="0">
                <a:solidFill>
                  <a:srgbClr val="333333"/>
                </a:solidFill>
              </a:defRPr>
            </a:pPr>
            <a:r>
              <a:t>Google Gemini Vision API (ai.google.dev) | Recharts (recharts.org)</a:t>
            </a:r>
          </a:p>
          <a:p>
            <a:pPr>
              <a:spcAft>
                <a:spcPts val="600"/>
              </a:spcAft>
              <a:defRPr sz="1000" b="0">
                <a:solidFill>
                  <a:srgbClr val="333333"/>
                </a:solidFill>
              </a:defRPr>
            </a:pPr>
            <a:r>
              <a:t>Lucide Icons (lucide.dev) | Sonner Toast (sonner.emilkowal.ski)</a:t>
            </a:r>
          </a:p>
          <a:p>
            <a:pPr>
              <a:spcAft>
                <a:spcPts val="200"/>
              </a:spcAft>
              <a:defRPr sz="1000" b="1">
                <a:solidFill>
                  <a:srgbClr val="FF8C00"/>
                </a:solidFill>
              </a:defRPr>
            </a:pPr>
            <a:r>
              <a:t>[ADD VERIFIED RESEARCH PAPERS OR ACADEMIC REFERENCES HERE]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Zillion
MindsSashakt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