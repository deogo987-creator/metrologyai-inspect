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41280" y="457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A3C6E"/>
                </a:solidFill>
                <a:latin typeface="Calibri"/>
              </a:rPr>
              <a:t>SMART INDIA</a:t>
            </a:r>
          </a:p>
          <a:p>
            <a:pPr algn="r"/>
            <a:r>
              <a:rPr sz="1100" b="1">
                <a:solidFill>
                  <a:srgbClr val="1B8A4E"/>
                </a:solidFill>
                <a:latin typeface="Calibri"/>
              </a:rPr>
              <a:t>HACKATHON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789920" y="640080"/>
            <a:ext cx="548640" cy="32004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1A3C6E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5" name="Oval 4"/>
          <p:cNvSpPr/>
          <p:nvPr/>
        </p:nvSpPr>
        <p:spPr>
          <a:xfrm>
            <a:off x="274320" y="137160"/>
            <a:ext cx="1188720" cy="777240"/>
          </a:xfrm>
          <a:prstGeom prst="ellipse">
            <a:avLst/>
          </a:prstGeom>
          <a:noFill/>
          <a:ln w="1905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3C6E"/>
                </a:solidFill>
                <a:latin typeface="Calibri"/>
              </a:rPr>
              <a:t>Your
Team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C6E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1463040"/>
            <a:ext cx="320040" cy="32004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Manual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Inspectors manually examine labels, making repetitive checks time-consuming.</a:t>
            </a:r>
          </a:p>
        </p:txBody>
      </p:sp>
      <p:sp>
        <p:nvSpPr>
          <p:cNvPr id="10" name="Oval 9"/>
          <p:cNvSpPr/>
          <p:nvPr/>
        </p:nvSpPr>
        <p:spPr>
          <a:xfrm>
            <a:off x="274320" y="2331720"/>
            <a:ext cx="320040" cy="32004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1343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Multi-Surface Declarations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3288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Required info may appear on different sides of the package.</a:t>
            </a:r>
          </a:p>
        </p:txBody>
      </p:sp>
      <p:sp>
        <p:nvSpPr>
          <p:cNvPr id="13" name="Oval 12"/>
          <p:cNvSpPr/>
          <p:nvPr/>
        </p:nvSpPr>
        <p:spPr>
          <a:xfrm>
            <a:off x="274320" y="3200400"/>
            <a:ext cx="320040" cy="32004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8211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Real-World Image 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40156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Blur, glare, distortion and small text reduce readability.</a:t>
            </a:r>
          </a:p>
        </p:txBody>
      </p:sp>
      <p:sp>
        <p:nvSpPr>
          <p:cNvPr id="16" name="Oval 15"/>
          <p:cNvSpPr/>
          <p:nvPr/>
        </p:nvSpPr>
        <p:spPr>
          <a:xfrm>
            <a:off x="274320" y="4069079"/>
            <a:ext cx="320040" cy="32004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50791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Uncertain AI Results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70247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A system may confuse unreadable with genuinely missing declarations.</a:t>
            </a:r>
          </a:p>
        </p:txBody>
      </p:sp>
      <p:sp>
        <p:nvSpPr>
          <p:cNvPr id="19" name="Oval 18"/>
          <p:cNvSpPr/>
          <p:nvPr/>
        </p:nvSpPr>
        <p:spPr>
          <a:xfrm>
            <a:off x="274320" y="4937760"/>
            <a:ext cx="320040" cy="32004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9194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Fragmented Verification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13892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Physical packaging, online listings and history need separate comparison.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58521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337AB7"/>
                </a:solidFill>
                <a:latin typeface="Calibri"/>
              </a:rPr>
              <a:t>The challenge is not simply reading a label — it is producing a reliable, explainable inspection decision.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10515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C6E"/>
                </a:solidFill>
                <a:latin typeface="Calibri"/>
              </a:rPr>
              <a:t>OUR SOLUTION — METROLOGYAI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0" y="1508760"/>
            <a:ext cx="2743200" cy="347472"/>
          </a:xfrm>
          <a:prstGeom prst="round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PRODUCT IMAGE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989320" y="1837944"/>
            <a:ext cx="164592" cy="128016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54880" y="1965960"/>
            <a:ext cx="2743200" cy="347472"/>
          </a:xfrm>
          <a:prstGeom prst="round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IMAGE QUALITY CHECK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89320" y="2295144"/>
            <a:ext cx="164592" cy="128016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0" y="2423160"/>
            <a:ext cx="2743200" cy="347472"/>
          </a:xfrm>
          <a:prstGeom prst="roundRect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AI VISION + OCR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9320" y="2752344"/>
            <a:ext cx="164592" cy="128016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54880" y="2880360"/>
            <a:ext cx="2743200" cy="347472"/>
          </a:xfrm>
          <a:prstGeom prst="roundRect">
            <a:avLst/>
          </a:prstGeom>
          <a:solidFill>
            <a:srgbClr val="337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DECLARATION EXTRACTION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89320" y="3209544"/>
            <a:ext cx="164592" cy="128016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54880" y="3337560"/>
            <a:ext cx="2743200" cy="347472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RULE VALIDATION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5989320" y="3666744"/>
            <a:ext cx="164592" cy="128016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754880" y="3794760"/>
            <a:ext cx="2743200" cy="347472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EVIDENCE + CONFIDENCE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5989320" y="4123944"/>
            <a:ext cx="164592" cy="128016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0" y="4251960"/>
            <a:ext cx="2743200" cy="347472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RISK PRIORITIZATION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5989320" y="4581144"/>
            <a:ext cx="164592" cy="128016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754880" y="4709160"/>
            <a:ext cx="2743200" cy="347472"/>
          </a:xfrm>
          <a:prstGeom prst="round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INSPECTOR REVIEW</a:t>
            </a:r>
          </a:p>
        </p:txBody>
      </p:sp>
      <p:sp>
        <p:nvSpPr>
          <p:cNvPr id="39" name="Down Arrow 38"/>
          <p:cNvSpPr/>
          <p:nvPr/>
        </p:nvSpPr>
        <p:spPr>
          <a:xfrm>
            <a:off x="5989320" y="5038344"/>
            <a:ext cx="164592" cy="128016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754880" y="5166360"/>
            <a:ext cx="2743200" cy="347472"/>
          </a:xfrm>
          <a:prstGeom prst="round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DIGITAL REPORT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58521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337AB7"/>
                </a:solidFill>
                <a:latin typeface="Calibri"/>
              </a:rPr>
              <a:t>AI assists the inspection; the inspector makes the final decision.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10515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C6E"/>
                </a:solidFill>
                <a:latin typeface="Calibri"/>
              </a:rPr>
              <a:t>OUR UNIQUE SOLUTIONS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46720" y="1463040"/>
            <a:ext cx="3840480" cy="777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183879" y="1572768"/>
            <a:ext cx="201168" cy="201168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58200" y="1508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Multi-View Intelligence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17830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55555"/>
                </a:solidFill>
                <a:latin typeface="Calibri"/>
              </a:rPr>
              <a:t>Analyzes front, back, side, top and bottom views.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20" y="2331720"/>
            <a:ext cx="3840480" cy="777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183879" y="2441448"/>
            <a:ext cx="201168" cy="201168"/>
          </a:xfrm>
          <a:prstGeom prst="ellipse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58200" y="2377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Missing ≠ Unreadable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26517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55555"/>
                </a:solidFill>
                <a:latin typeface="Calibri"/>
              </a:rPr>
              <a:t>Separates absent declarations from low-confidence detection.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20" y="3200400"/>
            <a:ext cx="3840480" cy="777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183879" y="3310128"/>
            <a:ext cx="201168" cy="201168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58200" y="32461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Adaptive Re-Capture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58200" y="3520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55555"/>
                </a:solidFill>
                <a:latin typeface="Calibri"/>
              </a:rPr>
              <a:t>Identifies poor image quality and recommends another capture.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46720" y="4069079"/>
            <a:ext cx="3840480" cy="777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183879" y="4178807"/>
            <a:ext cx="201168" cy="201168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58200" y="411479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Evidence Chain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58200" y="438911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55555"/>
                </a:solidFill>
                <a:latin typeface="Calibri"/>
              </a:rPr>
              <a:t>Links every finding to image evidence, OCR, field and rule.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46720" y="4937760"/>
            <a:ext cx="3840480" cy="777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183879" y="5047488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58200" y="49834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Cross-Source Verification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58200" y="5257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55555"/>
                </a:solidFill>
                <a:latin typeface="Calibri"/>
              </a:rPr>
              <a:t>Compares physical packaging with online listings.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46720" y="5806440"/>
            <a:ext cx="3840480" cy="777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183879" y="5916168"/>
            <a:ext cx="201168" cy="201168"/>
          </a:xfrm>
          <a:prstGeom prst="ellipse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58200" y="5852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Human-in-the-Loop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58200" y="61264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55555"/>
                </a:solidFill>
                <a:latin typeface="Calibri"/>
              </a:rPr>
              <a:t>Inspector corrections trigger smart revalidation.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4320" y="6263640"/>
            <a:ext cx="11612880" cy="137160"/>
          </a:xfrm>
          <a:prstGeom prst="round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6263640"/>
            <a:ext cx="12191695" cy="1828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PS ID: PS26034  |  Team ID: [TEAM ID]  |  Team Name: [TEAM NAME]  |  Category: Software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@SIH Idea submission - MetrologyAI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55680" y="647395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41280" y="457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A3C6E"/>
                </a:solidFill>
                <a:latin typeface="Calibri"/>
              </a:rPr>
              <a:t>SMART INDIA</a:t>
            </a:r>
          </a:p>
          <a:p>
            <a:pPr algn="r"/>
            <a:r>
              <a:rPr sz="1100" b="1">
                <a:solidFill>
                  <a:srgbClr val="1B8A4E"/>
                </a:solidFill>
                <a:latin typeface="Calibri"/>
              </a:rPr>
              <a:t>HACKATHON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789920" y="640080"/>
            <a:ext cx="548640" cy="32004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SIH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137160"/>
            <a:ext cx="1188720" cy="777240"/>
          </a:xfrm>
          <a:prstGeom prst="ellipse">
            <a:avLst/>
          </a:prstGeom>
          <a:noFill/>
          <a:ln w="1905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3C6E"/>
                </a:solidFill>
                <a:latin typeface="Calibri"/>
              </a:rPr>
              <a:t>Your
Team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C6E"/>
                </a:solidFill>
                <a:latin typeface="Calibri"/>
              </a:rPr>
              <a:t>METHODOLOGY &amp; TECHNICAL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C6E"/>
                </a:solidFill>
                <a:latin typeface="Calibri"/>
              </a:rPr>
              <a:t>METHODOLOGY — End-to-End Inspection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417320"/>
            <a:ext cx="1417320" cy="822960"/>
          </a:xfrm>
          <a:prstGeom prst="round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" y="14630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0056A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490472"/>
            <a:ext cx="13807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83080"/>
            <a:ext cx="1380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E0E0E0"/>
                </a:solidFill>
                <a:latin typeface="Calibri"/>
              </a:rPr>
              <a:t>Multi-view
product images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737360" y="1737360"/>
            <a:ext cx="201168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65960" y="1417320"/>
            <a:ext cx="1417320" cy="822960"/>
          </a:xfrm>
          <a:prstGeom prst="round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1680" y="14630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16A085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4248" y="1490472"/>
            <a:ext cx="13807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QUALITY
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84248" y="1783080"/>
            <a:ext cx="1380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E0E0E0"/>
                </a:solidFill>
                <a:latin typeface="Calibri"/>
              </a:rPr>
              <a:t>Blur + glare +
visibility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37560" y="1737360"/>
            <a:ext cx="201168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66160" y="1417320"/>
            <a:ext cx="1417320" cy="822960"/>
          </a:xfrm>
          <a:prstGeom prst="roundRect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11880" y="14630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1B8A4E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4448" y="1490472"/>
            <a:ext cx="13807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EXTRACT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1783080"/>
            <a:ext cx="1380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E0E0E0"/>
                </a:solidFill>
                <a:latin typeface="Calibri"/>
              </a:rPr>
              <a:t>OCR + AI
vision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37760" y="1737360"/>
            <a:ext cx="201168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66360" y="1417320"/>
            <a:ext cx="1417320" cy="822960"/>
          </a:xfrm>
          <a:prstGeom prst="roundRect">
            <a:avLst/>
          </a:prstGeom>
          <a:solidFill>
            <a:srgbClr val="337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12080" y="14630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337AB7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1490472"/>
            <a:ext cx="13807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4648" y="1783080"/>
            <a:ext cx="1380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E0E0E0"/>
                </a:solidFill>
                <a:latin typeface="Calibri"/>
              </a:rPr>
              <a:t>Declaration
extraction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537960" y="1737360"/>
            <a:ext cx="201168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66560" y="1417320"/>
            <a:ext cx="1417320" cy="82296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12280" y="14630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E86C00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1490472"/>
            <a:ext cx="13807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4848" y="1783080"/>
            <a:ext cx="1380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E0E0E0"/>
                </a:solidFill>
                <a:latin typeface="Calibri"/>
              </a:rPr>
              <a:t>Compliance
rule engine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138160" y="1737360"/>
            <a:ext cx="201168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66760" y="1417320"/>
            <a:ext cx="1417320" cy="822960"/>
          </a:xfrm>
          <a:prstGeom prst="round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12480" y="14630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1A3C6E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5048" y="1490472"/>
            <a:ext cx="13807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1783080"/>
            <a:ext cx="1380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E0E0E0"/>
                </a:solidFill>
                <a:latin typeface="Calibri"/>
              </a:rPr>
              <a:t>Inspector
verification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9738360" y="1737360"/>
            <a:ext cx="201168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966960" y="1417320"/>
            <a:ext cx="1417320" cy="8229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012680" y="14630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7AE60"/>
                </a:solidFill>
                <a:latin typeface="Calibr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5248" y="1490472"/>
            <a:ext cx="13807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REPORT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85248" y="1783080"/>
            <a:ext cx="138074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E0E0E0"/>
                </a:solidFill>
                <a:latin typeface="Calibri"/>
              </a:rPr>
              <a:t>Evidence-backed
report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2423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E"/>
                </a:solidFill>
                <a:latin typeface="Calibri"/>
              </a:rPr>
              <a:t>TECHNICAL APPROACH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788920"/>
            <a:ext cx="73152" cy="41148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27889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C6E"/>
                </a:solidFill>
                <a:latin typeface="Calibri"/>
              </a:rPr>
              <a:t>Image Acquisition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971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Capture product package images and optional e-commerce listing screenshots.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291840"/>
            <a:ext cx="73152" cy="41148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2918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C6E"/>
                </a:solidFill>
                <a:latin typeface="Calibri"/>
              </a:rPr>
              <a:t>Image Processing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Analyze blur, glare, perspective distortion and image quality.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794760"/>
            <a:ext cx="73152" cy="411480"/>
          </a:xfrm>
          <a:prstGeom prst="rect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79476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C6E"/>
                </a:solidFill>
                <a:latin typeface="Calibri"/>
              </a:rPr>
              <a:t>OCR + Vision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977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Extract text and identify relevant label regions.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4297680"/>
            <a:ext cx="73152" cy="411480"/>
          </a:xfrm>
          <a:prstGeom prst="rect">
            <a:avLst/>
          </a:prstGeom>
          <a:solidFill>
            <a:srgbClr val="337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42976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C6E"/>
                </a:solidFill>
                <a:latin typeface="Calibri"/>
              </a:rPr>
              <a:t>Structured Extraction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Convert raw text into fields: Product name, MRP, Net quantity, Manufacturer, Consumer care, Country of origin.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800600"/>
            <a:ext cx="73152" cy="4114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800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C6E"/>
                </a:solidFill>
                <a:latin typeface="Calibri"/>
              </a:rPr>
              <a:t>Compliance Engine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4983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Validate extracted information against configurable rules.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303520"/>
            <a:ext cx="73152" cy="4114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3035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C6E"/>
                </a:solidFill>
                <a:latin typeface="Calibri"/>
              </a:rPr>
              <a:t>Evidence Engine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54864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Connect findings to their source image and detected region.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806440"/>
            <a:ext cx="73152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806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3C6E"/>
                </a:solidFill>
                <a:latin typeface="Calibri"/>
              </a:rPr>
              <a:t>Decision Support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989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Generate confidence, priority and recommended next action.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0" y="2423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E"/>
                </a:solidFill>
                <a:latin typeface="Calibri"/>
              </a:rPr>
              <a:t>USER INTERFACE — IMPLEMENTATION FLOW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0" y="2788920"/>
            <a:ext cx="2743200" cy="4114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60720" y="28072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37AB7"/>
                </a:solidFill>
                <a:latin typeface="Calibri"/>
              </a:rPr>
              <a:t>SCREEN 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28072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Dashboard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60720" y="299008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999999"/>
                </a:solidFill>
                <a:latin typeface="Calibri"/>
              </a:rPr>
              <a:t>[INSERT PROTOTYPE SCREENSHOT]</a:t>
            </a:r>
          </a:p>
        </p:txBody>
      </p:sp>
      <p:sp>
        <p:nvSpPr>
          <p:cNvPr id="68" name="Down Arrow 67"/>
          <p:cNvSpPr/>
          <p:nvPr/>
        </p:nvSpPr>
        <p:spPr>
          <a:xfrm>
            <a:off x="6903720" y="3172968"/>
            <a:ext cx="137160" cy="109728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669280" y="3291840"/>
            <a:ext cx="2743200" cy="4114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760720" y="33101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37AB7"/>
                </a:solidFill>
                <a:latin typeface="Calibri"/>
              </a:rPr>
              <a:t>SCREEN 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31012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New Inspection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60720" y="34930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999999"/>
                </a:solidFill>
                <a:latin typeface="Calibri"/>
              </a:rPr>
              <a:t>[INSERT PROTOTYPE SCREENSHOT]</a:t>
            </a:r>
          </a:p>
        </p:txBody>
      </p:sp>
      <p:sp>
        <p:nvSpPr>
          <p:cNvPr id="73" name="Down Arrow 72"/>
          <p:cNvSpPr/>
          <p:nvPr/>
        </p:nvSpPr>
        <p:spPr>
          <a:xfrm>
            <a:off x="6903720" y="3675888"/>
            <a:ext cx="137160" cy="109728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669280" y="3794760"/>
            <a:ext cx="2743200" cy="4114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760720" y="381304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37AB7"/>
                </a:solidFill>
                <a:latin typeface="Calibri"/>
              </a:rPr>
              <a:t>SCREEN 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0" y="381304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Image Upload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760720" y="39959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999999"/>
                </a:solidFill>
                <a:latin typeface="Calibri"/>
              </a:rPr>
              <a:t>[INSERT PROTOTYPE SCREENSHOT]</a:t>
            </a:r>
          </a:p>
        </p:txBody>
      </p:sp>
      <p:sp>
        <p:nvSpPr>
          <p:cNvPr id="78" name="Down Arrow 77"/>
          <p:cNvSpPr/>
          <p:nvPr/>
        </p:nvSpPr>
        <p:spPr>
          <a:xfrm>
            <a:off x="6903720" y="4178808"/>
            <a:ext cx="137160" cy="109728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669280" y="4297680"/>
            <a:ext cx="2743200" cy="4114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60720" y="431596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37AB7"/>
                </a:solidFill>
                <a:latin typeface="Calibri"/>
              </a:rPr>
              <a:t>SCREEN 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31596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AI Analysis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760720" y="449884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999999"/>
                </a:solidFill>
                <a:latin typeface="Calibri"/>
              </a:rPr>
              <a:t>[INSERT PROTOTYPE SCREENSHOT]</a:t>
            </a:r>
          </a:p>
        </p:txBody>
      </p:sp>
      <p:sp>
        <p:nvSpPr>
          <p:cNvPr id="83" name="Down Arrow 82"/>
          <p:cNvSpPr/>
          <p:nvPr/>
        </p:nvSpPr>
        <p:spPr>
          <a:xfrm>
            <a:off x="6903720" y="4681728"/>
            <a:ext cx="137160" cy="109728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669280" y="4800600"/>
            <a:ext cx="2743200" cy="4114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481888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37AB7"/>
                </a:solidFill>
                <a:latin typeface="Calibri"/>
              </a:rPr>
              <a:t>SCREEN 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0" y="481888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Compliance Result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60720" y="50017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999999"/>
                </a:solidFill>
                <a:latin typeface="Calibri"/>
              </a:rPr>
              <a:t>[INSERT PROTOTYPE SCREENSHOT]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6903720" y="5184648"/>
            <a:ext cx="137160" cy="109728"/>
          </a:xfrm>
          <a:prstGeom prst="down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669280" y="5303520"/>
            <a:ext cx="2743200" cy="4114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60720" y="532180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37AB7"/>
                </a:solidFill>
                <a:latin typeface="Calibri"/>
              </a:rPr>
              <a:t>SCREEN 06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0" y="53218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Report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550468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999999"/>
                </a:solidFill>
                <a:latin typeface="Calibri"/>
              </a:rPr>
              <a:t>[INSERT PROTOTYPE SCREENSHOT]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4320" y="598932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C6E"/>
                </a:solidFill>
                <a:latin typeface="Calibri"/>
              </a:rPr>
              <a:t>TECH STACK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74320" y="6263640"/>
            <a:ext cx="1874519" cy="137160"/>
          </a:xfrm>
          <a:prstGeom prst="round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FRONTEND: React • TypeScript • Vite • Tailwind CSS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240279" y="6263640"/>
            <a:ext cx="1874519" cy="137160"/>
          </a:xfrm>
          <a:prstGeom prst="round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BACKEND: Convex (Serverless)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206238" y="6263640"/>
            <a:ext cx="1874519" cy="137160"/>
          </a:xfrm>
          <a:prstGeom prst="roundRect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DATABASE: Convex DB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172197" y="6263640"/>
            <a:ext cx="1874519" cy="13716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AI / VISION: Gemini AI Vision • OCR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138156" y="6263640"/>
            <a:ext cx="1874519" cy="137160"/>
          </a:xfrm>
          <a:prstGeom prst="round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ANALYTICS: Recharts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104115" y="6263640"/>
            <a:ext cx="1874519" cy="1371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DEPLOYMENT: Freebuff Platform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@SIH Idea submission - MetrologyAI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155680" y="647395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41280" y="457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A3C6E"/>
                </a:solidFill>
                <a:latin typeface="Calibri"/>
              </a:rPr>
              <a:t>SMART INDIA</a:t>
            </a:r>
          </a:p>
          <a:p>
            <a:pPr algn="r"/>
            <a:r>
              <a:rPr sz="1100" b="1">
                <a:solidFill>
                  <a:srgbClr val="1B8A4E"/>
                </a:solidFill>
                <a:latin typeface="Calibri"/>
              </a:rPr>
              <a:t>HACKATHON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789920" y="640080"/>
            <a:ext cx="548640" cy="32004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SIH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137160"/>
            <a:ext cx="1188720" cy="777240"/>
          </a:xfrm>
          <a:prstGeom prst="ellipse">
            <a:avLst/>
          </a:prstGeom>
          <a:noFill/>
          <a:ln w="1905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3C6E"/>
                </a:solidFill>
                <a:latin typeface="Calibri"/>
              </a:rPr>
              <a:t>Your
Team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C6E"/>
                </a:solidFill>
                <a:latin typeface="Calibri"/>
              </a:rPr>
              <a:t>IMPACT &amp;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E"/>
                </a:solidFill>
                <a:latin typeface="Calibri"/>
              </a:rPr>
              <a:t>POTENTIAL IMPACT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1508760"/>
            <a:ext cx="228600" cy="22860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Faster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Automates repetitive label-reading and initial validation.</a:t>
            </a:r>
          </a:p>
        </p:txBody>
      </p:sp>
      <p:sp>
        <p:nvSpPr>
          <p:cNvPr id="10" name="Oval 9"/>
          <p:cNvSpPr/>
          <p:nvPr/>
        </p:nvSpPr>
        <p:spPr>
          <a:xfrm>
            <a:off x="274320" y="2377440"/>
            <a:ext cx="228600" cy="228600"/>
          </a:xfrm>
          <a:prstGeom prst="ellipse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317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Consistent 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06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Applies configured validation logic systematically.</a:t>
            </a:r>
          </a:p>
        </p:txBody>
      </p:sp>
      <p:sp>
        <p:nvSpPr>
          <p:cNvPr id="13" name="Oval 12"/>
          <p:cNvSpPr/>
          <p:nvPr/>
        </p:nvSpPr>
        <p:spPr>
          <a:xfrm>
            <a:off x="274320" y="3246120"/>
            <a:ext cx="228600" cy="22860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200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Better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Links findings with their supporting image evidence.</a:t>
            </a:r>
          </a:p>
        </p:txBody>
      </p:sp>
      <p:sp>
        <p:nvSpPr>
          <p:cNvPr id="16" name="Oval 15"/>
          <p:cNvSpPr/>
          <p:nvPr/>
        </p:nvSpPr>
        <p:spPr>
          <a:xfrm>
            <a:off x="274320" y="4114799"/>
            <a:ext cx="228600" cy="22860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069079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Reduced False Positives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43399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Distinguishes missing info from unreadable info.</a:t>
            </a:r>
          </a:p>
        </p:txBody>
      </p:sp>
      <p:sp>
        <p:nvSpPr>
          <p:cNvPr id="19" name="Oval 18"/>
          <p:cNvSpPr/>
          <p:nvPr/>
        </p:nvSpPr>
        <p:spPr>
          <a:xfrm>
            <a:off x="274320" y="4983480"/>
            <a:ext cx="228600" cy="228600"/>
          </a:xfrm>
          <a:prstGeom prst="ellipse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93776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Improved Decision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212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Provides inspectors with recommended next actions.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10515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C6E"/>
                </a:solidFill>
                <a:latin typeface="Calibri"/>
              </a:rPr>
              <a:t>INSPECTOR &amp; OPERATIONAL BENEFITS</a:t>
            </a:r>
          </a:p>
        </p:txBody>
      </p:sp>
      <p:sp>
        <p:nvSpPr>
          <p:cNvPr id="23" name="Oval 22"/>
          <p:cNvSpPr/>
          <p:nvPr/>
        </p:nvSpPr>
        <p:spPr>
          <a:xfrm>
            <a:off x="5577840" y="2926080"/>
            <a:ext cx="1371600" cy="137160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INSPECTOR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0" y="1828800"/>
            <a:ext cx="1188720" cy="54864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1A3C6E"/>
                </a:solidFill>
                <a:latin typeface="Calibri"/>
              </a:rPr>
              <a:t>Faster Capture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1828800"/>
            <a:ext cx="1188720" cy="54864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1A3C6E"/>
                </a:solidFill>
                <a:latin typeface="Calibri"/>
              </a:rPr>
              <a:t>AI-Assisted
Extraction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474720"/>
            <a:ext cx="1188720" cy="54864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1A3C6E"/>
                </a:solidFill>
                <a:latin typeface="Calibri"/>
              </a:rPr>
              <a:t>Evidence-Based
Findings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3474720"/>
            <a:ext cx="1188720" cy="54864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1A3C6E"/>
                </a:solidFill>
                <a:latin typeface="Calibri"/>
              </a:rPr>
              <a:t>Risk
Prioritization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4754880"/>
            <a:ext cx="1188720" cy="54864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1A3C6E"/>
                </a:solidFill>
                <a:latin typeface="Calibri"/>
              </a:rPr>
              <a:t>Digital
Reports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0" y="4754880"/>
            <a:ext cx="1188720" cy="54864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337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1A3C6E"/>
                </a:solidFill>
                <a:latin typeface="Calibri"/>
              </a:rPr>
              <a:t>Human
Verification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10515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E"/>
                </a:solidFill>
                <a:latin typeface="Calibri"/>
              </a:rPr>
              <a:t>ECONOMIC &amp; STRATEGIC BENEFITS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1463040"/>
            <a:ext cx="274320" cy="2286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144475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Reduced Manual Effort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Less repetitive label verification.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2331720"/>
            <a:ext cx="274320" cy="2286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231343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Scalable Workflow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254203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Supports larger inspection volumes.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0" y="3200400"/>
            <a:ext cx="274320" cy="2286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18211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Digital Documentation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341071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Structured inspection records and reports.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0" y="4069079"/>
            <a:ext cx="274320" cy="2286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4050791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Data-Driven Monitoring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4279391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Enables analysis of recurring findings.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86800" y="4937760"/>
            <a:ext cx="274320" cy="2286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4919472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Future Expansion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514807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Supports additional product categories and rule sets.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571500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99999"/>
                </a:solidFill>
                <a:latin typeface="Calibri"/>
              </a:rPr>
              <a:t>ILLUSTRATIVE IMPACT PRIORITIES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989320"/>
            <a:ext cx="2103120" cy="365760"/>
          </a:xfrm>
          <a:prstGeom prst="round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Inspection
Efficiency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0" y="5989320"/>
            <a:ext cx="2103120" cy="365760"/>
          </a:xfrm>
          <a:prstGeom prst="roundRect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Evidence &amp;
Traceability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0" y="5989320"/>
            <a:ext cx="2103120" cy="36576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Inspector
Assistance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0" y="5989320"/>
            <a:ext cx="2103120" cy="365760"/>
          </a:xfrm>
          <a:prstGeom prst="round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Consistency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01200" y="5989320"/>
            <a:ext cx="2103120" cy="365760"/>
          </a:xfrm>
          <a:prstGeom prst="round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Digital
Documentation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@SIH Idea submission - MetrologyAI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7395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41280" y="457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A3C6E"/>
                </a:solidFill>
                <a:latin typeface="Calibri"/>
              </a:rPr>
              <a:t>SMART INDIA</a:t>
            </a:r>
          </a:p>
          <a:p>
            <a:pPr algn="r"/>
            <a:r>
              <a:rPr sz="1100" b="1">
                <a:solidFill>
                  <a:srgbClr val="1B8A4E"/>
                </a:solidFill>
                <a:latin typeface="Calibri"/>
              </a:rPr>
              <a:t>HACKATHON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789920" y="640080"/>
            <a:ext cx="548640" cy="32004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SIH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137160"/>
            <a:ext cx="1188720" cy="777240"/>
          </a:xfrm>
          <a:prstGeom prst="ellipse">
            <a:avLst/>
          </a:prstGeom>
          <a:noFill/>
          <a:ln w="1905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3C6E"/>
                </a:solidFill>
                <a:latin typeface="Calibri"/>
              </a:rPr>
              <a:t>Your
Team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C6E"/>
                </a:solidFill>
                <a:latin typeface="Calibri"/>
              </a:rPr>
              <a:t>FEASIBILITY &amp; VIABILITY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051560"/>
            <a:ext cx="2148840" cy="13716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47472" y="1124712"/>
            <a:ext cx="274320" cy="27432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C6E"/>
                </a:solidFill>
                <a:latin typeface="Calibri"/>
              </a:rPr>
              <a:t>Technology
Feasibility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55555"/>
                </a:solidFill>
                <a:latin typeface="Calibri"/>
              </a:rPr>
              <a:t>OCR, computer vision and AI models are technically applicable to label inspection.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051560"/>
            <a:ext cx="2148840" cy="13716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B8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33472" y="1124712"/>
            <a:ext cx="274320" cy="274320"/>
          </a:xfrm>
          <a:prstGeom prst="ellipse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41732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C6E"/>
                </a:solidFill>
                <a:latin typeface="Calibri"/>
              </a:rPr>
              <a:t>Data
Feasibility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28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55555"/>
                </a:solidFill>
                <a:latin typeface="Calibri"/>
              </a:rPr>
              <a:t>Product-label images and structured declarations can support development and testing.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1051560"/>
            <a:ext cx="2148840" cy="13716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19472" y="1124712"/>
            <a:ext cx="274320" cy="274320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141732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C6E"/>
                </a:solidFill>
                <a:latin typeface="Calibri"/>
              </a:rPr>
              <a:t>Architecture
Feasibility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828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55555"/>
                </a:solidFill>
                <a:latin typeface="Calibri"/>
              </a:rPr>
              <a:t>AI extraction and regulatory rules are separated into modular components.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051560"/>
            <a:ext cx="2148840" cy="13716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05472" y="1124712"/>
            <a:ext cx="274320" cy="27432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141732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C6E"/>
                </a:solidFill>
                <a:latin typeface="Calibri"/>
              </a:rPr>
              <a:t>Deployment
Feasibility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1828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55555"/>
                </a:solidFill>
                <a:latin typeface="Calibri"/>
              </a:rPr>
              <a:t>A web-based system can support desktop, tablet and mobile workflows.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18320" y="1051560"/>
            <a:ext cx="2148840" cy="13716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491472" y="1124712"/>
            <a:ext cx="274320" cy="274320"/>
          </a:xfrm>
          <a:prstGeom prst="ellipse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1417320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C6E"/>
                </a:solidFill>
                <a:latin typeface="Calibri"/>
              </a:rPr>
              <a:t>Scalability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182880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55555"/>
                </a:solidFill>
                <a:latin typeface="Calibri"/>
              </a:rPr>
              <a:t>New categories and rules can be added through configurable definitions.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2606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WHAT IFs...?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" y="3017520"/>
            <a:ext cx="2697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0358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Q: AI misreads text?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32735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A: Confidence scoring + evidence + inspector correction.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08960" y="3017520"/>
            <a:ext cx="2697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82112" y="30358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Q: Image is blurry?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82112" y="32735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A: Image-quality detection + adaptive recapture.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" y="3794760"/>
            <a:ext cx="2697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381304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Q: Declaration on another side?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" y="405079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A: Multi-view package analysis.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08960" y="3794760"/>
            <a:ext cx="2697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82112" y="381304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Q: Online info differs?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2112" y="405079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A: Cross-source comparison.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4320" y="4572000"/>
            <a:ext cx="2697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" y="459028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Q: Regulations change?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" y="48280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A: Version-controlled rule engine.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08960" y="4572000"/>
            <a:ext cx="2697480" cy="6858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82112" y="459028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Q: AI produces false finding?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82112" y="48280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555555"/>
                </a:solidFill>
                <a:latin typeface="Calibri"/>
              </a:rPr>
              <a:t>A: Human-in-the-loop verification.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26060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E"/>
                </a:solidFill>
                <a:latin typeface="Calibri"/>
              </a:rPr>
              <a:t>RISK → MITIGATION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3017520"/>
            <a:ext cx="2011680" cy="411480"/>
          </a:xfrm>
          <a:prstGeom prst="round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OCR ERROR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8001000" y="3108960"/>
            <a:ext cx="274320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366760" y="3017520"/>
            <a:ext cx="3200400" cy="411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A3C6E"/>
                </a:solidFill>
                <a:latin typeface="Calibri"/>
              </a:rPr>
              <a:t>CONFIDENCE + HUMAN REVIEW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943600" y="3520440"/>
            <a:ext cx="2011680" cy="411480"/>
          </a:xfrm>
          <a:prstGeom prst="round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POOR IMAGE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8001000" y="3611880"/>
            <a:ext cx="274320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366760" y="3520440"/>
            <a:ext cx="3200400" cy="411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A3C6E"/>
                </a:solidFill>
                <a:latin typeface="Calibri"/>
              </a:rPr>
              <a:t>ADAPTIVE RECAPTURE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0" y="4023360"/>
            <a:ext cx="2011680" cy="411480"/>
          </a:xfrm>
          <a:prstGeom prst="roundRect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MISSING VIEW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8001000" y="4114800"/>
            <a:ext cx="274320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366760" y="4023360"/>
            <a:ext cx="3200400" cy="411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B8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A3C6E"/>
                </a:solidFill>
                <a:latin typeface="Calibri"/>
              </a:rPr>
              <a:t>MULTI-VIEW ANALYSIS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943600" y="4526280"/>
            <a:ext cx="2011680" cy="41148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DATA MISMATCH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8001000" y="4617720"/>
            <a:ext cx="274320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366760" y="4526280"/>
            <a:ext cx="3200400" cy="411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A3C6E"/>
                </a:solidFill>
                <a:latin typeface="Calibri"/>
              </a:rPr>
              <a:t>CROSS-SOURCE CHECK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0" y="5029200"/>
            <a:ext cx="2011680" cy="411480"/>
          </a:xfrm>
          <a:prstGeom prst="round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RULE CHANGE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8001000" y="5120640"/>
            <a:ext cx="274320" cy="164592"/>
          </a:xfrm>
          <a:prstGeom prst="rightArrow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366760" y="5029200"/>
            <a:ext cx="3200400" cy="4114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1A3C6E"/>
                </a:solidFill>
                <a:latin typeface="Calibri"/>
              </a:rPr>
              <a:t>VERSIONED RULE ENGINE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4320" y="525780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C6E"/>
                </a:solidFill>
                <a:latin typeface="Calibri"/>
              </a:rPr>
              <a:t>BEFORE vs METROLOGYAI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74320" y="5577840"/>
            <a:ext cx="5303520" cy="777240"/>
          </a:xfrm>
          <a:prstGeom prst="roundRect">
            <a:avLst/>
          </a:prstGeom>
          <a:solidFill>
            <a:srgbClr val="FFEBEE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5961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BEFORE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58521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0392B"/>
                </a:solidFill>
                <a:latin typeface="Calibri"/>
              </a:rPr>
              <a:t>✗ Manual reading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7520" y="5852160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0392B"/>
                </a:solidFill>
                <a:latin typeface="Calibri"/>
              </a:rPr>
              <a:t>✗ Manual comparison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05332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0392B"/>
                </a:solidFill>
                <a:latin typeface="Calibri"/>
              </a:rPr>
              <a:t>✗ Fragmented evidence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17520" y="6053328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0392B"/>
                </a:solidFill>
                <a:latin typeface="Calibri"/>
              </a:rPr>
              <a:t>✗ Manual documentation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943600" y="5577840"/>
            <a:ext cx="5943600" cy="7772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26480" y="55961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Calibri"/>
              </a:rPr>
              <a:t>METROLOGYAI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6480" y="5852160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7AE60"/>
                </a:solidFill>
                <a:latin typeface="Calibri"/>
              </a:rPr>
              <a:t>✓ AI-assisted extraction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5852160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7AE60"/>
                </a:solidFill>
                <a:latin typeface="Calibri"/>
              </a:rPr>
              <a:t>✓ Rule-based validation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6053328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7AE60"/>
                </a:solidFill>
                <a:latin typeface="Calibri"/>
              </a:rPr>
              <a:t>✓ Evidence-linked findings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6053328"/>
            <a:ext cx="2651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7AE60"/>
                </a:solidFill>
                <a:latin typeface="Calibri"/>
              </a:rPr>
              <a:t>✓ Digital reporting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@SIH Idea submission - MetrologyAI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155680" y="647395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41280" y="457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A3C6E"/>
                </a:solidFill>
                <a:latin typeface="Calibri"/>
              </a:rPr>
              <a:t>SMART INDIA</a:t>
            </a:r>
          </a:p>
          <a:p>
            <a:pPr algn="r"/>
            <a:r>
              <a:rPr sz="1100" b="1">
                <a:solidFill>
                  <a:srgbClr val="1B8A4E"/>
                </a:solidFill>
                <a:latin typeface="Calibri"/>
              </a:rPr>
              <a:t>HACKATHON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789920" y="640080"/>
            <a:ext cx="548640" cy="32004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SIH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137160"/>
            <a:ext cx="1188720" cy="777240"/>
          </a:xfrm>
          <a:prstGeom prst="ellipse">
            <a:avLst/>
          </a:prstGeom>
          <a:noFill/>
          <a:ln w="1905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3C6E"/>
                </a:solidFill>
                <a:latin typeface="Calibri"/>
              </a:rPr>
              <a:t>Your
Team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C6E"/>
                </a:solidFill>
                <a:latin typeface="Calibri"/>
              </a:rPr>
              <a:t>PROPOSED SOLUTION VS EXISTING 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C6E"/>
                </a:solidFill>
                <a:latin typeface="Calibri"/>
              </a:rPr>
              <a:t>DETAILED COMPARISON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1732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023360"/>
                <a:gridCol w="40233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</a:t>
                      </a:r>
                    </a:p>
                  </a:txBody>
                  <a:tcPr anchor="ctr"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Conventional / Existing</a:t>
                      </a:r>
                    </a:p>
                  </a:txBody>
                  <a:tcPr anchor="ctr"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MetrologyAI</a:t>
                      </a:r>
                    </a:p>
                  </a:txBody>
                  <a:tcPr anchor="ctr">
                    <a:solidFill>
                      <a:srgbClr val="1A3C6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Inspection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AI-assisted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Package Views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Individual views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Multi-view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Text Extraction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Manual / basic OCR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OCR + AI vision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Image Quality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Manual judgement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Quality analysis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Unreadable Text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Often manually judged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Confidence-aware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Rule Checking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Configurable rule engine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Evidence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Manually documented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Evidence-linked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Online Comparison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Separate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Integrated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Historical Comparison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Limited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Supported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Risk Prioritization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Inspector-led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AI-assisted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Recommendations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Next-best-action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Inspector Role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Manual processing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Final verification</a:t>
                      </a:r>
                    </a:p>
                  </a:txBody>
                  <a:tcPr anchor="ctr">
                    <a:solidFill>
                      <a:srgbClr val="E8F0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A3C6E"/>
                          </a:solidFill>
                          <a:latin typeface="Calibri"/>
                        </a:defRPr>
                      </a:pPr>
                      <a:r>
                        <a:t>Reporting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555555"/>
                          </a:solidFill>
                          <a:latin typeface="Calibri"/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Structured digital report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5394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3C6E"/>
                </a:solidFill>
                <a:latin typeface="Calibri"/>
              </a:rPr>
              <a:t>FROM OCR TO INSPECTION INTELLIGENCE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715000"/>
            <a:ext cx="3566160" cy="685800"/>
          </a:xfrm>
          <a:prstGeom prst="round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7332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73328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Multi-View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0E0E0"/>
                </a:solidFill>
                <a:latin typeface="Calibri"/>
              </a:rPr>
              <a:t>Analyze front, back, side, top and bottom views of packaged commodities.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5715000"/>
            <a:ext cx="3566160" cy="6858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57332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UNDERSTAND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573328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Evidence + Rules +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5989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0E0E0"/>
                </a:solidFill>
                <a:latin typeface="Calibri"/>
              </a:rPr>
              <a:t>AI-driven extraction validated against configurable compliance rules with full evidence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5715000"/>
            <a:ext cx="3566160" cy="685800"/>
          </a:xfrm>
          <a:prstGeom prst="roundRect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57332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73328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Human-in-the-Loop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89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E0E0E0"/>
                </a:solidFill>
                <a:latin typeface="Calibri"/>
              </a:rPr>
              <a:t>Inspector corrections trigger smart revalidation, ensuring final accuracy and accountability.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@SIH Idea submission - MetrologyAI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241280" y="457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A3C6E"/>
                </a:solidFill>
                <a:latin typeface="Calibri"/>
              </a:rPr>
              <a:t>SMART INDIA</a:t>
            </a:r>
          </a:p>
          <a:p>
            <a:pPr algn="r"/>
            <a:r>
              <a:rPr sz="1100" b="1">
                <a:solidFill>
                  <a:srgbClr val="1B8A4E"/>
                </a:solidFill>
                <a:latin typeface="Calibri"/>
              </a:rPr>
              <a:t>HACKATHON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789920" y="640080"/>
            <a:ext cx="548640" cy="32004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SIH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137160"/>
            <a:ext cx="1188720" cy="777240"/>
          </a:xfrm>
          <a:prstGeom prst="ellipse">
            <a:avLst/>
          </a:prstGeom>
          <a:noFill/>
          <a:ln w="1905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1A3C6E"/>
                </a:solidFill>
                <a:latin typeface="Calibri"/>
              </a:rPr>
              <a:t>Your
Team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C6E"/>
                </a:solidFill>
                <a:latin typeface="Calibri"/>
              </a:rPr>
              <a:t>RESEARCH &amp;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051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E"/>
                </a:solidFill>
                <a:latin typeface="Calibri"/>
              </a:rPr>
              <a:t>LEGAL &amp; REGULATORY REFERENCES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1508760"/>
            <a:ext cx="320040" cy="32004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Legal Metrology Act, 2009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647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55555"/>
                </a:solidFill>
                <a:latin typeface="Calibri"/>
              </a:rPr>
              <a:t>Central legislation governing metrology standards in India.</a:t>
            </a:r>
          </a:p>
        </p:txBody>
      </p:sp>
      <p:sp>
        <p:nvSpPr>
          <p:cNvPr id="10" name="Oval 9"/>
          <p:cNvSpPr/>
          <p:nvPr/>
        </p:nvSpPr>
        <p:spPr>
          <a:xfrm>
            <a:off x="274320" y="2514600"/>
            <a:ext cx="320040" cy="32004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Legal Metrology (Packaged Commodities) Rules, 2011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55555"/>
                </a:solidFill>
                <a:latin typeface="Calibri"/>
              </a:rPr>
              <a:t>Rules for compliance of packaged commodity labels.</a:t>
            </a:r>
          </a:p>
        </p:txBody>
      </p:sp>
      <p:sp>
        <p:nvSpPr>
          <p:cNvPr id="13" name="Oval 12"/>
          <p:cNvSpPr/>
          <p:nvPr/>
        </p:nvSpPr>
        <p:spPr>
          <a:xfrm>
            <a:off x="274320" y="3520440"/>
            <a:ext cx="320040" cy="32004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204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Department of Consumer Affairs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7647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55555"/>
                </a:solidFill>
                <a:latin typeface="Calibri"/>
              </a:rPr>
              <a:t>Nodal department for Legal Metrology administration.</a:t>
            </a:r>
          </a:p>
        </p:txBody>
      </p:sp>
      <p:sp>
        <p:nvSpPr>
          <p:cNvPr id="16" name="Oval 15"/>
          <p:cNvSpPr/>
          <p:nvPr/>
        </p:nvSpPr>
        <p:spPr>
          <a:xfrm>
            <a:off x="274320" y="4526280"/>
            <a:ext cx="320040" cy="320040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262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Official Notifications &amp; Amendments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8231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555555"/>
                </a:solidFill>
                <a:latin typeface="Calibri"/>
              </a:rPr>
              <a:t>Relevant notifications under the Legal Metrology framework.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1051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E"/>
                </a:solidFill>
                <a:latin typeface="Calibri"/>
              </a:rPr>
              <a:t>RESEARCH AREAS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1508760"/>
            <a:ext cx="3840480" cy="8686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00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508760"/>
            <a:ext cx="91440" cy="86868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158191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Computer Vision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185623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OCR and scene-text recognition for label extraction.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0" y="2514600"/>
            <a:ext cx="3840480" cy="8686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B8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0" y="2514600"/>
            <a:ext cx="91440" cy="868680"/>
          </a:xfrm>
          <a:prstGeom prst="rect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58775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Multimodal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28620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Image + text understanding for holistic label analysis.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3520440"/>
            <a:ext cx="3840480" cy="8686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0" y="3520440"/>
            <a:ext cx="91440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359359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Explainable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86791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Confidence and evidence-based decisions for transparency.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0" y="4526280"/>
            <a:ext cx="3840480" cy="86868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0" y="4526280"/>
            <a:ext cx="91440" cy="86868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459943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  <a:latin typeface="Calibri"/>
              </a:rPr>
              <a:t>Human-AI Interaction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8737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Human verification in AI-assisted inspection workflows.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1051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E"/>
                </a:solidFill>
                <a:latin typeface="Calibri"/>
              </a:rPr>
              <a:t>TECHNOLOGY REFERENCES</a:t>
            </a:r>
          </a:p>
        </p:txBody>
      </p:sp>
      <p:sp>
        <p:nvSpPr>
          <p:cNvPr id="37" name="Oval 36"/>
          <p:cNvSpPr/>
          <p:nvPr/>
        </p:nvSpPr>
        <p:spPr>
          <a:xfrm>
            <a:off x="8229600" y="1554480"/>
            <a:ext cx="164592" cy="164592"/>
          </a:xfrm>
          <a:prstGeom prst="ellipse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0" y="15087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React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0" y="15087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Component-based UI library</a:t>
            </a:r>
          </a:p>
        </p:txBody>
      </p:sp>
      <p:sp>
        <p:nvSpPr>
          <p:cNvPr id="40" name="Oval 39"/>
          <p:cNvSpPr/>
          <p:nvPr/>
        </p:nvSpPr>
        <p:spPr>
          <a:xfrm>
            <a:off x="8229600" y="2103120"/>
            <a:ext cx="164592" cy="164592"/>
          </a:xfrm>
          <a:prstGeom prst="ellipse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0" y="205740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TypeScript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205740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Type-safe JavaScript</a:t>
            </a:r>
          </a:p>
        </p:txBody>
      </p:sp>
      <p:sp>
        <p:nvSpPr>
          <p:cNvPr id="43" name="Oval 42"/>
          <p:cNvSpPr/>
          <p:nvPr/>
        </p:nvSpPr>
        <p:spPr>
          <a:xfrm>
            <a:off x="8229600" y="2651760"/>
            <a:ext cx="164592" cy="164592"/>
          </a:xfrm>
          <a:prstGeom prst="ellipse">
            <a:avLst/>
          </a:prstGeom>
          <a:solidFill>
            <a:srgbClr val="1B8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26060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Convex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260604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Serverless backend &amp; database</a:t>
            </a:r>
          </a:p>
        </p:txBody>
      </p:sp>
      <p:sp>
        <p:nvSpPr>
          <p:cNvPr id="46" name="Oval 45"/>
          <p:cNvSpPr/>
          <p:nvPr/>
        </p:nvSpPr>
        <p:spPr>
          <a:xfrm>
            <a:off x="8229600" y="3200399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3920" y="315467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Tailwind CSS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3154679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Utility-first CSS framework</a:t>
            </a:r>
          </a:p>
        </p:txBody>
      </p:sp>
      <p:sp>
        <p:nvSpPr>
          <p:cNvPr id="49" name="Oval 48"/>
          <p:cNvSpPr/>
          <p:nvPr/>
        </p:nvSpPr>
        <p:spPr>
          <a:xfrm>
            <a:off x="8229600" y="3749040"/>
            <a:ext cx="164592" cy="164592"/>
          </a:xfrm>
          <a:prstGeom prst="ellipse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37033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Gemini 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0" y="370332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Vision + language model</a:t>
            </a:r>
          </a:p>
        </p:txBody>
      </p:sp>
      <p:sp>
        <p:nvSpPr>
          <p:cNvPr id="52" name="Oval 51"/>
          <p:cNvSpPr/>
          <p:nvPr/>
        </p:nvSpPr>
        <p:spPr>
          <a:xfrm>
            <a:off x="8229600" y="4297680"/>
            <a:ext cx="164592" cy="164592"/>
          </a:xfrm>
          <a:prstGeom prst="ellipse">
            <a:avLst/>
          </a:prstGeom>
          <a:solidFill>
            <a:srgbClr val="337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03920" y="425196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Vite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20" y="425196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Build tool &amp; dev server</a:t>
            </a:r>
          </a:p>
        </p:txBody>
      </p:sp>
      <p:sp>
        <p:nvSpPr>
          <p:cNvPr id="55" name="Oval 54"/>
          <p:cNvSpPr/>
          <p:nvPr/>
        </p:nvSpPr>
        <p:spPr>
          <a:xfrm>
            <a:off x="8229600" y="4846319"/>
            <a:ext cx="164592" cy="16459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20" y="480059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C6E"/>
                </a:solidFill>
                <a:latin typeface="Calibri"/>
              </a:rPr>
              <a:t>Recharts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75520" y="4800599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Charting library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54864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C6E"/>
                </a:solidFill>
                <a:latin typeface="Calibri"/>
              </a:rPr>
              <a:t>REFERENCES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74320" y="5806440"/>
            <a:ext cx="11612880" cy="5029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585216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999999"/>
                </a:solidFill>
                <a:latin typeface="Calibri"/>
              </a:rPr>
              <a:t>[ADD VERIFIED REFERENCE — Legal Metrology Act, 2009]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26480" y="585216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999999"/>
                </a:solidFill>
                <a:latin typeface="Calibri"/>
              </a:rPr>
              <a:t>[ADD VERIFIED REFERENCE — Legal Metrology (Packaged Commodities) Rules, 2011]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603504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999999"/>
                </a:solidFill>
                <a:latin typeface="Calibri"/>
              </a:rPr>
              <a:t>[ADD VERIFIED REFERENCE — Department of Consumer Affairs, Government of India]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26480" y="603504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999999"/>
                </a:solidFill>
                <a:latin typeface="Calibri"/>
              </a:rPr>
              <a:t>[ADD VERIFIED REFERENCE — Relevant court judgments or regulatory orders]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5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@SIH Idea submission - MetrologyAI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55680" y="6473952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